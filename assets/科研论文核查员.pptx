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54864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FD0E8"/>
                </a:solidFill>
                <a:latin typeface="PingFang SC"/>
                <a:ea typeface="PingFang SC"/>
              </a:rPr>
              <a:t>SciencePal · AI4Science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PingFang SC"/>
                <a:ea typeface="PingFang SC"/>
              </a:rPr>
              <a:t>科研论文核查员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71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9FB6D6"/>
                </a:solidFill>
                <a:latin typeface="PingFang SC"/>
                <a:ea typeface="PingFang SC"/>
              </a:rPr>
              <a:t>Paper Reference 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104241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ingFang SC"/>
                <a:ea typeface="PingFang SC"/>
              </a:rPr>
              <a:t>在 SciencePal 沙箱里逐条联网核验参考文献，用可追溯证据替代“凭记忆猜测”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DOI 真伪核验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题录逐字段比对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撤稿识别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6256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方法学沙箱复算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9893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AEC2DE"/>
                </a:solidFill>
                <a:latin typeface="PingFang SC"/>
                <a:ea typeface="PingFang SC"/>
              </a:rPr>
              <a:t>主办：香港城市大学 HKAI-Sci    |    参赛形式：个人参赛    |    提交截止：2026-10-31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问题：引用幻觉是沉默的科研系统性风险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纯模型离线基线在 48 条金标准上的实测表现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B3A6B"/>
                </a:solidFill>
                <a:latin typeface="PingFang SC"/>
                <a:ea typeface="PingFang SC"/>
              </a:rPr>
              <a:t>为什么需要外部证据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2542032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41448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编造 DOI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大模型撰写/审查文献时会“编造”参考文献，且 DOI 格式高度逼真，肉眼难辨。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474720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74136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题录错配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真实 DOI 配错作者、年份、期刊或卷期页，张冠李戴却看似规范。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407407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06824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撤稿未披露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被撤稿论文仍被当作正常文献引用，污染证据链。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340095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239512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人工成本高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逐条查库、核对、查撤稿极耗时，审稿与自查难以规模化。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783080"/>
            <a:ext cx="534924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8463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B3A6B"/>
                </a:solidFill>
                <a:latin typeface="PingFang SC"/>
                <a:ea typeface="PingFang SC"/>
              </a:rPr>
              <a:t>实测：纯模型只能猜“格式规律”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42032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C0392B"/>
                </a:solidFill>
                <a:latin typeface="PingFang SC"/>
                <a:ea typeface="PingFang SC"/>
              </a:rPr>
              <a:t>0.62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587751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幻觉 DOI 检测 F1 仅为 0.62，误报 8 次、漏报 3 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593591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C0392B"/>
                </a:solidFill>
                <a:latin typeface="PingFang SC"/>
                <a:ea typeface="PingFang SC"/>
              </a:rPr>
              <a:t>8 次误报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639311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用臆想的“期刊 DOI 格式规则”冤枉真实文献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45152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C0392B"/>
                </a:solidFill>
                <a:latin typeface="PingFang SC"/>
                <a:ea typeface="PingFang SC"/>
              </a:rPr>
              <a:t>3 次漏报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690872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漏掉的恰是格式最规范、最危险的伪造 DOI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5532120"/>
            <a:ext cx="4800600" cy="566928"/>
          </a:xfrm>
          <a:prstGeom prst="roundRect">
            <a:avLst>
              <a:gd name="adj" fmla="val 8000"/>
            </a:avLst>
          </a:prstGeom>
          <a:solidFill>
            <a:srgbClr val="F7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5532120"/>
            <a:ext cx="4572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0392B"/>
                </a:solidFill>
                <a:latin typeface="PingFang SC"/>
                <a:ea typeface="PingFang SC"/>
              </a:rPr>
              <a:t>结论：没有外部证据，模型无法可靠区分“真”与“逼真”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方案：三层核查 + 证据留痕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创新点是工作流与工程约束，而不是更大的模型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575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75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参考文献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75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整批引用一次提交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03383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6263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6263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① DOI 真伪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6263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Crossref 实时请求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HTTP 200 / 404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13895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6775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6775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② 题录比对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6775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年份/作者/标题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期刊/卷期页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4407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③ 撤稿识别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标题 RETRACTED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撤稿通知关联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34919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97799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7799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④ 方法学复算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7799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沙箱真实执行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scipy 统计检验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645431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0831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831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结构化报告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831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结论 + 证据 URL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+ 机器可读 JSON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设计原则一 · 强制取证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每条引用必须联网查询 Crossref，禁止凭记忆作答；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HTTP 状态、来源 URL、沙箱复算脚本全部留痕，可逐条复核。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设计原则二 · 人机协同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不确定即标记 suspect 并交人工复核，不武断下结论；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定位为审稿 / 作者自检助手，不替代同行评议。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结果：48 条金标准测试，零误报、零漏报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独立测试集（未参与调参），离线对照经 SSE 审计确认公平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04</a:t>
            </a:r>
          </a:p>
        </p:txBody>
      </p:sp>
      <p:pic>
        <p:nvPicPr>
          <p:cNvPr id="7" name="Picture 6" descr="ppt_f1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5074920" cy="332781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965960"/>
          <a:ext cx="493593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66190"/>
                <a:gridCol w="1066190"/>
                <a:gridCol w="1066190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检测任务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核查员 F1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基线 F1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核查员误报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幻觉 DOI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0.62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题录错配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0.82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任意问题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0.82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20840" y="4572000"/>
            <a:ext cx="4937760" cy="749808"/>
          </a:xfrm>
          <a:prstGeom prst="roundRect">
            <a:avLst>
              <a:gd name="adj" fmla="val 8000"/>
            </a:avLst>
          </a:prstGeom>
          <a:solidFill>
            <a:srgbClr val="EC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4572000"/>
            <a:ext cx="457200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8B57"/>
                </a:solidFill>
                <a:latin typeface="PingFang SC"/>
                <a:ea typeface="PingFang SC"/>
              </a:rPr>
              <a:t>核查员：0 误报 / 0 漏报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0392B"/>
                </a:solidFill>
                <a:latin typeface="PingFang SC"/>
                <a:ea typeface="PingFang SC"/>
              </a:rPr>
              <a:t>离线基线：合计 23 次误报、7 次漏报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504688"/>
            <a:ext cx="11155680" cy="10789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59612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B3A6B"/>
                </a:solidFill>
                <a:latin typeface="PingFang SC"/>
                <a:ea typeface="PingFang SC"/>
              </a:rPr>
              <a:t>评测严谨性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07024"/>
            <a:ext cx="108813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· 金标准由 Crossref 实时构造（valid / not_found / mismatch）；伪造 DOI 用过去年份、同格式仅篡改后缀并实时验证 404，杜绝靠“未来年份”蒙对。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· dev / test 分离，48 条 test 未参与调参；SSE 逐条重放审计证明离线基线全程零联网（工具请求被 blocked），对照公平。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真实可复现：打开公开链接即见全过程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免登录只读回放，完整保留沙箱执行轨迹与最终报告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主演示 · 一屏四态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4 条引用分别命中：真实放行 / 404 篡改 DOI / 年份错配 / STAP 撤稿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sciencepal.ai/share/ee4068d7…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A · 撤稿识别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识别被当正常引用的 STAP 论文，定位官方撤稿通知 DOI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sciencepal.ai/share/f6f8746c…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4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B · 统计复算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沙箱 scipy 复算揪出 p 值造假：报告 0.03/0.04，实算 0.206/0.138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sciencepal.ai/share/8de1f3cc…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随附可复现材料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代码仓库：评测集生成 / 跑批 / 评分 / 审计全脚本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一键复现：run_batch → export → audit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技术报告、逐条结果、SSE 审计报告、Layer-2 案例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原创性与资源使用声明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未来工作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接入 Retraction Watch / Crossref Event Data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整稿批量审稿与投稿前自检插件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扩展多学科统计 / 图表复算与图像查伪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引用可信度评分与期刊工作流集成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