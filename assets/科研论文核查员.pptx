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54864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FD0E8"/>
                </a:solidFill>
                <a:latin typeface="PingFang SC"/>
                <a:ea typeface="PingFang SC"/>
              </a:rPr>
              <a:t>SciencePal · AI4Science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</a:rPr>
              <a:t>科研论文核查员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9FB6D6"/>
                </a:solidFill>
                <a:latin typeface="PingFang SC"/>
                <a:ea typeface="PingFang SC"/>
              </a:rPr>
              <a:t>Paper Reference Verifier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104241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PingFang SC"/>
                <a:ea typeface="PingFang SC"/>
              </a:rPr>
              <a:t>在 SciencePal 沙箱里逐条联网核验参考文献，用可追溯证据替代“凭记忆猜测”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983480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26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983480"/>
            <a:ext cx="24871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DOI 真伪核验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4983480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26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4983480"/>
            <a:ext cx="24871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题录逐字段比对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983480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26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983480"/>
            <a:ext cx="24871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撤稿识别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4983480"/>
            <a:ext cx="2487168" cy="566928"/>
          </a:xfrm>
          <a:prstGeom prst="roundRect">
            <a:avLst>
              <a:gd name="adj" fmla="val 8000"/>
            </a:avLst>
          </a:prstGeom>
          <a:solidFill>
            <a:srgbClr val="264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4983480"/>
            <a:ext cx="24871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PingFang SC"/>
                <a:ea typeface="PingFang SC"/>
              </a:rPr>
              <a:t>方法学沙箱复算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AEC2DE"/>
                </a:solidFill>
                <a:latin typeface="PingFang SC"/>
                <a:ea typeface="PingFang SC"/>
              </a:rPr>
              <a:t>主办：香港城市大学 HKAI-Sci    |    参赛：邹亮明 · 邹晶晶    |    提交截止：2026-10-31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B3A6B"/>
                </a:solidFill>
                <a:latin typeface="PingFang SC"/>
                <a:ea typeface="PingFang SC"/>
              </a:rPr>
              <a:t>问题：模型凭记忆无法可靠识别引用幻觉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</a:rPr>
              <a:t>纯模型离线基线在 48 条金标准上的实测表现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566928" cy="38100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DEE6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0292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3A6B"/>
                </a:solidFill>
                <a:latin typeface="PingFang SC"/>
                <a:ea typeface="PingFang SC"/>
              </a:rPr>
              <a:t>为什么需要外部证据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542032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41448"/>
            <a:ext cx="47091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B1C"/>
                </a:solidFill>
                <a:latin typeface="PingFang SC"/>
                <a:ea typeface="PingFang SC"/>
              </a:rPr>
              <a:t>编造 DOI　</a:t>
            </a:r>
            <a:r>
              <a:rPr sz="1250" b="0">
                <a:solidFill>
                  <a:srgbClr val="5F6670"/>
                </a:solidFill>
                <a:latin typeface="PingFang SC"/>
                <a:ea typeface="PingFang SC"/>
              </a:rPr>
              <a:t>大模型撰写/审查文献时会“编造”参考文献，且 DOI 格式高度逼真，肉眼难辨。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474720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74136"/>
            <a:ext cx="47091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B1C"/>
                </a:solidFill>
                <a:latin typeface="PingFang SC"/>
                <a:ea typeface="PingFang SC"/>
              </a:rPr>
              <a:t>题录错配　</a:t>
            </a:r>
            <a:r>
              <a:rPr sz="1250" b="0">
                <a:solidFill>
                  <a:srgbClr val="5F6670"/>
                </a:solidFill>
                <a:latin typeface="PingFang SC"/>
                <a:ea typeface="PingFang SC"/>
              </a:rPr>
              <a:t>真实 DOI 配错作者、年份、期刊或卷期页，张冠李戴却看似规范。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407407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06824"/>
            <a:ext cx="47091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B1C"/>
                </a:solidFill>
                <a:latin typeface="PingFang SC"/>
                <a:ea typeface="PingFang SC"/>
              </a:rPr>
              <a:t>撤稿未披露　</a:t>
            </a:r>
            <a:r>
              <a:rPr sz="1250" b="0">
                <a:solidFill>
                  <a:srgbClr val="5F6670"/>
                </a:solidFill>
                <a:latin typeface="PingFang SC"/>
                <a:ea typeface="PingFang SC"/>
              </a:rPr>
              <a:t>被撤稿论文仍被当作正常文献引用，污染证据链。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5340095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39512"/>
            <a:ext cx="47091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B1C"/>
                </a:solidFill>
                <a:latin typeface="PingFang SC"/>
                <a:ea typeface="PingFang SC"/>
              </a:rPr>
              <a:t>人工成本高　</a:t>
            </a:r>
            <a:r>
              <a:rPr sz="1250" b="0">
                <a:solidFill>
                  <a:srgbClr val="5F6670"/>
                </a:solidFill>
                <a:latin typeface="PingFang SC"/>
                <a:ea typeface="PingFang SC"/>
              </a:rPr>
              <a:t>逐条查库、核对、查撤稿极耗时，审稿与自查难以规模化。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8308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8463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3A6B"/>
                </a:solidFill>
                <a:latin typeface="PingFang SC"/>
                <a:ea typeface="PingFang SC"/>
              </a:rPr>
              <a:t>实测：纯模型只能猜“格式规律”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42032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0392B"/>
                </a:solidFill>
                <a:latin typeface="PingFang SC"/>
                <a:ea typeface="PingFang SC"/>
              </a:rPr>
              <a:t>0.62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87751"/>
            <a:ext cx="3017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幻觉 DOI 检测 F1 仅为 0.62，误报 8 次、漏报 3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93591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0392B"/>
                </a:solidFill>
                <a:latin typeface="PingFang SC"/>
                <a:ea typeface="PingFang SC"/>
              </a:rPr>
              <a:t>8 次误报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639311"/>
            <a:ext cx="3017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用臆想的“期刊 DOI 格式规则”冤枉真实文献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45152"/>
            <a:ext cx="18288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C0392B"/>
                </a:solidFill>
                <a:latin typeface="PingFang SC"/>
                <a:ea typeface="PingFang SC"/>
              </a:rPr>
              <a:t>3 次漏报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690872"/>
            <a:ext cx="3017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漏掉的恰是格式最规范、最危险的伪造 DOI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532120"/>
            <a:ext cx="4800600" cy="566928"/>
          </a:xfrm>
          <a:prstGeom prst="roundRect">
            <a:avLst>
              <a:gd name="adj" fmla="val 8000"/>
            </a:avLst>
          </a:prstGeom>
          <a:solidFill>
            <a:srgbClr val="F7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532120"/>
            <a:ext cx="45720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0392B"/>
                </a:solidFill>
                <a:latin typeface="PingFang SC"/>
                <a:ea typeface="PingFang SC"/>
              </a:rPr>
              <a:t>结论：没有外部证据，模型无法可靠区分“真”与“逼真”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B3A6B"/>
                </a:solidFill>
                <a:latin typeface="PingFang SC"/>
                <a:ea typeface="PingFang SC"/>
              </a:rPr>
              <a:t>方案：三层核查 + 证据留痕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</a:rPr>
              <a:t>创新点是工作流与工程约束，而不是更大的模型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566928" cy="38100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DEE6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5751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751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输入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参考文献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5751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整批引用一次提交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03383" y="2715768"/>
            <a:ext cx="142880" cy="274320"/>
          </a:xfrm>
          <a:prstGeom prst="rightArrow">
            <a:avLst/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6263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6263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① DOI 真伪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6263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Crossref 实时请求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HTTP 200 / 404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13895" y="2715768"/>
            <a:ext cx="142880" cy="274320"/>
          </a:xfrm>
          <a:prstGeom prst="rightArrow">
            <a:avLst/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6775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775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② 题录比对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775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年份/作者/标题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期刊/卷期页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24407" y="2715768"/>
            <a:ext cx="142880" cy="274320"/>
          </a:xfrm>
          <a:prstGeom prst="rightArrow">
            <a:avLst/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87287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③ 撤稿识别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标题 RETRACTED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撤稿通知关联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34919" y="2715768"/>
            <a:ext cx="142880" cy="274320"/>
          </a:xfrm>
          <a:prstGeom prst="rightArrow">
            <a:avLst/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97799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7799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④ 方法学复算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97799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沙箱真实执行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scipy 统计检验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645431" y="2715768"/>
            <a:ext cx="142880" cy="274320"/>
          </a:xfrm>
          <a:prstGeom prst="rightArrow">
            <a:avLst/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08311" y="2057400"/>
            <a:ext cx="1627632" cy="1600200"/>
          </a:xfrm>
          <a:prstGeom prst="roundRect">
            <a:avLst>
              <a:gd name="adj" fmla="val 8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8311" y="2221992"/>
            <a:ext cx="1627632" cy="6858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</a:rPr>
              <a:t>结构化报告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8311" y="2953512"/>
            <a:ext cx="1627632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结论 + 证据 URL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EF7"/>
                </a:solidFill>
                <a:latin typeface="PingFang SC"/>
                <a:ea typeface="PingFang SC"/>
              </a:rPr>
              <a:t>+ 机器可读 JSON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16052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3434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PingFang SC"/>
                <a:ea typeface="PingFang SC"/>
              </a:rPr>
              <a:t>设计原则一 · 强制取证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" y="4754880"/>
            <a:ext cx="49834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B1C"/>
                </a:solidFill>
                <a:latin typeface="PingFang SC"/>
                <a:ea typeface="PingFang SC"/>
              </a:rPr>
              <a:t>每条引用必须联网查询 Crossref，禁止凭记忆作答；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B1C"/>
                </a:solidFill>
                <a:latin typeface="PingFang SC"/>
                <a:ea typeface="PingFang SC"/>
              </a:rPr>
              <a:t>HTTP 状态、来源 URL、沙箱复算脚本全部留痕，可逐条复核。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16052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3434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PingFang SC"/>
                <a:ea typeface="PingFang SC"/>
              </a:rPr>
              <a:t>设计原则二 · 人机协同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754880"/>
            <a:ext cx="498348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B1C"/>
                </a:solidFill>
                <a:latin typeface="PingFang SC"/>
                <a:ea typeface="PingFang SC"/>
              </a:rPr>
              <a:t>不确定即标记 suspect 并交人工复核，不武断下结论；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1B1C"/>
                </a:solidFill>
                <a:latin typeface="PingFang SC"/>
                <a:ea typeface="PingFang SC"/>
              </a:rPr>
              <a:t>定位为审稿 / 作者自检助手，不替代同行评议。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B3A6B"/>
                </a:solidFill>
                <a:latin typeface="PingFang SC"/>
                <a:ea typeface="PingFang SC"/>
              </a:rPr>
              <a:t>结果：联网是决定性闸门（F1 0.62→1.0），专家流程固化确定性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</a:rPr>
              <a:t>48 条独立测试集；三方对照（离线 / 普通联网 / 专家工作流），SSE 审计确认公平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566928" cy="38100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DEE6"/>
                </a:solidFill>
                <a:latin typeface="PingFang SC"/>
                <a:ea typeface="PingFang SC"/>
              </a:rPr>
              <a:t>04</a:t>
            </a:r>
          </a:p>
        </p:txBody>
      </p:sp>
      <p:pic>
        <p:nvPicPr>
          <p:cNvPr id="7" name="Picture 6" descr="ppt_f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5029200" cy="32978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20840" y="1920240"/>
          <a:ext cx="4937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152144"/>
                <a:gridCol w="1152144"/>
                <a:gridCol w="1152144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检测任务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离线基线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普通联网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专家工作流</a:t>
                      </a:r>
                    </a:p>
                  </a:txBody>
                  <a:tcPr anchor="ctr">
                    <a:solidFill>
                      <a:srgbClr val="1B3A6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B1C"/>
                          </a:solidFill>
                          <a:latin typeface="PingFang SC"/>
                          <a:ea typeface="PingFang SC"/>
                        </a:rPr>
                        <a:t>幻觉 DOI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ingFang SC"/>
                          <a:ea typeface="PingFang SC"/>
                        </a:rPr>
                        <a:t>0.62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6B9A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B1C"/>
                          </a:solidFill>
                          <a:latin typeface="PingFang SC"/>
                          <a:ea typeface="PingFang SC"/>
                        </a:rPr>
                        <a:t>题录错配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ingFang SC"/>
                          <a:ea typeface="PingFang SC"/>
                        </a:rPr>
                        <a:t>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6B9A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B1C"/>
                          </a:solidFill>
                          <a:latin typeface="PingFang SC"/>
                          <a:ea typeface="PingFang SC"/>
                        </a:rPr>
                        <a:t>任意问题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ingFang SC"/>
                          <a:ea typeface="PingFang SC"/>
                        </a:rPr>
                        <a:t>0.82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6B9A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8B57"/>
                          </a:solidFill>
                          <a:latin typeface="PingFang SC"/>
                          <a:ea typeface="PingFang SC"/>
                        </a:rPr>
                        <a:t>1.00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4526280"/>
            <a:ext cx="4937760" cy="1078992"/>
          </a:xfrm>
          <a:prstGeom prst="roundRect">
            <a:avLst>
              <a:gd name="adj" fmla="val 8000"/>
            </a:avLst>
          </a:prstGeom>
          <a:solidFill>
            <a:srgbClr val="EC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553712"/>
            <a:ext cx="4572000" cy="1042415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E8B57"/>
                </a:solidFill>
                <a:latin typeface="PingFang SC"/>
                <a:ea typeface="PingFang SC"/>
              </a:rPr>
              <a:t>两个联网方法均 0 误报 / 0 漏报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0392B"/>
                </a:solidFill>
                <a:latin typeface="PingFang SC"/>
                <a:ea typeface="PingFang SC"/>
              </a:rPr>
              <a:t>离线基线：合计 23 次误报、7 次漏报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3A6B"/>
                </a:solidFill>
                <a:latin typeface="PingFang SC"/>
                <a:ea typeface="PingFang SC"/>
              </a:rPr>
              <a:t>强模型上专家流程无额外 F1 增益，价值在确定性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8064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3A6B"/>
                </a:solidFill>
                <a:latin typeface="PingFang SC"/>
                <a:ea typeface="PingFang SC"/>
              </a:rPr>
              <a:t>对照严谨性与诚实结论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44768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B1C"/>
                </a:solidFill>
                <a:latin typeface="PingFang SC"/>
                <a:ea typeface="PingFang SC"/>
              </a:rPr>
              <a:t>· 增设工具全开、能联网但不给专家流程的普通 Agent 作对照，防止稻草人基线；撤稿、统计复算、2026 冷门撤稿限定任务同输入对照，两个联网 Agent 都能做对。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A1B1C"/>
                </a:solidFill>
                <a:latin typeface="PingFang SC"/>
                <a:ea typeface="PingFang SC"/>
              </a:rPr>
              <a:t>· 专家流程差异在过程：平均工具调用更少、无长期记忆污染、JSON 稳定可解析；全流程留证据、可审计。局限：仅单模型、n=48，弱模型增益待验。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B3A6B"/>
                </a:solidFill>
                <a:latin typeface="PingFang SC"/>
                <a:ea typeface="PingFang SC"/>
              </a:rPr>
              <a:t>真实可复现：打开公开链接即见全过程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F6670"/>
                </a:solidFill>
                <a:latin typeface="PingFang SC"/>
                <a:ea typeface="PingFang SC"/>
              </a:rPr>
              <a:t>免登录只读回放，完整保留沙箱执行轨迹与最终报告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44752"/>
            <a:ext cx="566928" cy="38100"/>
          </a:xfrm>
          <a:prstGeom prst="rect">
            <a:avLst/>
          </a:prstGeom>
          <a:solidFill>
            <a:srgbClr val="4F6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384048"/>
            <a:ext cx="6400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D9DEE6"/>
                </a:solidFill>
                <a:latin typeface="PingFang SC"/>
                <a:ea typeface="PingFang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3611880" cy="1280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84831"/>
            <a:ext cx="320954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3A6B"/>
                </a:solidFill>
                <a:latin typeface="PingFang SC"/>
                <a:ea typeface="PingFang SC"/>
              </a:rPr>
              <a:t>主演示 · 一屏四态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0048"/>
            <a:ext cx="3209544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B1C"/>
                </a:solidFill>
                <a:latin typeface="PingFang SC"/>
                <a:ea typeface="PingFang SC"/>
              </a:rPr>
              <a:t>4 条引用分别命中：真实放行 / 404 篡改 DOI / 年份错配 / STAP 撤稿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93008"/>
            <a:ext cx="3209544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F6B9A"/>
                </a:solidFill>
                <a:latin typeface="PingFang SC"/>
                <a:ea typeface="PingFang SC"/>
              </a:rPr>
              <a:t>sciencepal.ai/share/ee4068d7…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8288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828800"/>
            <a:ext cx="3611880" cy="1280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084831"/>
            <a:ext cx="320954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3A6B"/>
                </a:solidFill>
                <a:latin typeface="PingFang SC"/>
                <a:ea typeface="PingFang SC"/>
              </a:rPr>
              <a:t>案例 A · 撤稿识别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670048"/>
            <a:ext cx="3209544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B1C"/>
                </a:solidFill>
                <a:latin typeface="PingFang SC"/>
                <a:ea typeface="PingFang SC"/>
              </a:rPr>
              <a:t>识别被当正常引用的 STAP 论文，定位官方撤稿通知 DOI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93008"/>
            <a:ext cx="3209544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F6B9A"/>
                </a:solidFill>
                <a:latin typeface="PingFang SC"/>
                <a:ea typeface="PingFang SC"/>
              </a:rPr>
              <a:t>sciencepal.ai/share/f6f8746c…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82880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1828800"/>
            <a:ext cx="3611880" cy="1280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084831"/>
            <a:ext cx="320954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>
                <a:solidFill>
                  <a:srgbClr val="1B3A6B"/>
                </a:solidFill>
                <a:latin typeface="PingFang SC"/>
                <a:ea typeface="PingFang SC"/>
              </a:rPr>
              <a:t>案例 B · 统计复算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670048"/>
            <a:ext cx="3209544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1A1B1C"/>
                </a:solidFill>
                <a:latin typeface="PingFang SC"/>
                <a:ea typeface="PingFang SC"/>
              </a:rPr>
              <a:t>沙箱 scipy 复算发现 p 值与数据矛盾：报告 0.03/0.04，实算 0.206/0.138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493008"/>
            <a:ext cx="3209544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F6B9A"/>
                </a:solidFill>
                <a:latin typeface="PingFang SC"/>
                <a:ea typeface="PingFang SC"/>
              </a:rPr>
              <a:t>sciencepal.ai/share/8de1f3cc…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976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PingFang SC"/>
                <a:ea typeface="PingFang SC"/>
              </a:rPr>
              <a:t>随附可复现材料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709160"/>
            <a:ext cx="50292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代码仓库：评测集生成 / 跑批 / 评分 / 审计全脚本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一键复现：run_batch + run_naive → export → audit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三方对照技术报告、逐条结果、12 run SSE 审计、Layer-2 案例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原创性与资源使用声明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411480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29768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3A6B"/>
                </a:solidFill>
                <a:latin typeface="PingFang SC"/>
                <a:ea typeface="PingFang SC"/>
              </a:rPr>
              <a:t>未来工作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709160"/>
            <a:ext cx="50292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接入 Retraction Watch / Crossref Event Data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整稿批量审稿与投稿前自检插件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扩展多学科统计 / 图表复算与图像查伪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B1C"/>
                </a:solidFill>
                <a:latin typeface="PingFang SC"/>
                <a:ea typeface="PingFang SC"/>
              </a:rPr>
              <a:t>· 引用可信度评分与期刊工作流集成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